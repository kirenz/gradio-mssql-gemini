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726" autoAdjust="0"/>
  </p:normalViewPr>
  <p:slideViewPr>
    <p:cSldViewPr snapToGrid="0" snapToObjects="1">
      <p:cViewPr varScale="1">
        <p:scale>
          <a:sx n="160" d="100"/>
          <a:sy n="160" d="100"/>
        </p:scale>
        <p:origin x="776" y="17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3FA6AB-186B-6547-A2C2-13F32FEF6254}" type="datetimeFigureOut">
              <a:rPr lang="de-DE" smtClean="0"/>
              <a:t>28.03.25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1AB1EB-C4ED-BE41-BD14-54B7A2062DC9}" type="slidenum">
              <a:rPr lang="de-DE" smtClean="0"/>
              <a:t>‹Nr.›</a:t>
            </a:fld>
            <a:endParaRPr lang="de-DE"/>
          </a:p>
        </p:txBody>
      </p:sp>
    </p:spTree>
    <p:extLst>
      <p:ext uri="{BB962C8B-B14F-4D97-AF65-F5344CB8AC3E}">
        <p14:creationId xmlns:p14="http://schemas.microsoft.com/office/powerpoint/2010/main" val="2532197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DA1AB1EB-C4ED-BE41-BD14-54B7A2062DC9}" type="slidenum">
              <a:rPr lang="de-DE" smtClean="0"/>
              <a:t>1</a:t>
            </a:fld>
            <a:endParaRPr lang="de-DE"/>
          </a:p>
        </p:txBody>
      </p:sp>
    </p:spTree>
    <p:extLst>
      <p:ext uri="{BB962C8B-B14F-4D97-AF65-F5344CB8AC3E}">
        <p14:creationId xmlns:p14="http://schemas.microsoft.com/office/powerpoint/2010/main" val="449505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dirty="0"/>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6" name="Footer Placeholder 5"/>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8" name="Footer Placeholder 7"/>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4" name="Footer Placeholder 3"/>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3" name="Footer Placeholder 2"/>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6" name="Footer Placeholder 5"/>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6" name="Footer Placeholder 5"/>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venir Next" panose="020B0503020202020204" pitchFamily="34" charset="0"/>
              </a:defRPr>
            </a:lvl1pPr>
          </a:lstStyle>
          <a:p>
            <a:fld id="{241EB5C9-1307-BA42-ABA2-0BC069CD8E7F}" type="datetimeFigureOut">
              <a:rPr lang="en-US" smtClean="0"/>
              <a:pPr/>
              <a:t>3/28/25</a:t>
            </a:fld>
            <a:endParaRPr lang="en-US"/>
          </a:p>
        </p:txBody>
      </p:sp>
      <p:sp>
        <p:nvSpPr>
          <p:cNvPr id="5" name="Footer Placeholder 4"/>
          <p:cNvSpPr>
            <a:spLocks noGrp="1"/>
          </p:cNvSpPr>
          <p:nvPr>
            <p:ph type="ftr" sz="quarter" idx="11"/>
          </p:nvPr>
        </p:nvSpPr>
        <p:spPr/>
        <p:txBody>
          <a:bodyPr/>
          <a:lstStyle>
            <a:lvl1pPr>
              <a:defRPr>
                <a:latin typeface="Avenir Next" panose="020B0503020202020204"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Avenir Next" panose="020B0503020202020204" pitchFamily="34" charset="0"/>
              </a:defRPr>
            </a:lvl1pPr>
          </a:lstStyle>
          <a:p>
            <a:fld id="{C5EF2332-01BF-834F-8236-50238282D533}" type="slidenum">
              <a:rPr lang="en-US" smtClean="0"/>
              <a:pPr/>
              <a:t>‹Nr.›</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3/28/25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Bike Use Case</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‹Nr.›</a:t>
            </a:fld>
            <a:endParaRPr lang="en-US"/>
          </a:p>
        </p:txBody>
      </p:sp>
      <p:pic>
        <p:nvPicPr>
          <p:cNvPr id="9" name="Grafik 8">
            <a:extLst>
              <a:ext uri="{FF2B5EF4-FFF2-40B4-BE49-F238E27FC236}">
                <a16:creationId xmlns:a16="http://schemas.microsoft.com/office/drawing/2014/main" id="{88551BFB-8BE7-3805-6F82-2C4005046539}"/>
              </a:ext>
            </a:extLst>
          </p:cNvPr>
          <p:cNvPicPr>
            <a:picLocks noChangeAspect="1"/>
          </p:cNvPicPr>
          <p:nvPr userDrawn="1"/>
        </p:nvPicPr>
        <p:blipFill>
          <a:blip r:embed="rId13"/>
          <a:stretch>
            <a:fillRect/>
          </a:stretch>
        </p:blipFill>
        <p:spPr>
          <a:xfrm>
            <a:off x="8282259" y="205979"/>
            <a:ext cx="404541" cy="372178"/>
          </a:xfrm>
          <a:prstGeom prst="rect">
            <a:avLst/>
          </a:prstGeom>
        </p:spPr>
      </p:pic>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b="1" kern="1200">
          <a:solidFill>
            <a:schemeClr val="tx1"/>
          </a:solidFill>
          <a:latin typeface="Avenir Next" panose="020B0503020202020204" pitchFamily="34" charset="0"/>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Avenir Next" panose="020B0503020202020204" pitchFamily="34" charset="0"/>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Avenir Next" panose="020B0503020202020204" pitchFamily="34" charset="0"/>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Avenir Next" panose="020B0503020202020204" pitchFamily="34" charset="0"/>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Avenir Next" panose="020B0503020202020204" pitchFamily="34" charset="0"/>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Avenir Next" panose="020B0503020202020204"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rPr dirty="0"/>
              <a:t>German</a:t>
            </a:r>
            <a:r>
              <a:rPr lang="de-DE" dirty="0" err="1"/>
              <a:t>y</a:t>
            </a:r>
            <a:r>
              <a:rPr lang="de-DE" dirty="0"/>
              <a:t>:</a:t>
            </a:r>
            <a:r>
              <a:rPr dirty="0"/>
              <a:t> Sales Analysis</a:t>
            </a:r>
          </a:p>
        </p:txBody>
      </p:sp>
      <p:sp>
        <p:nvSpPr>
          <p:cNvPr id="3" name="Subtitle 2"/>
          <p:cNvSpPr>
            <a:spLocks noGrp="1"/>
          </p:cNvSpPr>
          <p:nvPr>
            <p:ph type="subTitle" idx="1"/>
          </p:nvPr>
        </p:nvSpPr>
        <p:spPr>
          <a:xfrm>
            <a:off x="1371600" y="2914650"/>
            <a:ext cx="6400800" cy="1314450"/>
          </a:xfrm>
        </p:spPr>
        <p:txBody>
          <a:bodyPr/>
          <a:lstStyle/>
          <a:p>
            <a:pPr marL="0" lvl="0" indent="0">
              <a:buNone/>
            </a:pPr>
            <a:br>
              <a:rPr dirty="0"/>
            </a:br>
            <a:br>
              <a:rPr dirty="0"/>
            </a:br>
            <a:r>
              <a:rPr lang="de-DE" dirty="0"/>
              <a:t>Kärcher Store Stuttgart</a:t>
            </a:r>
            <a:endParaRPr dirty="0"/>
          </a:p>
        </p:txBody>
      </p:sp>
      <p:sp>
        <p:nvSpPr>
          <p:cNvPr id="4" name="Date Placeholder 3"/>
          <p:cNvSpPr>
            <a:spLocks noGrp="1"/>
          </p:cNvSpPr>
          <p:nvPr>
            <p:ph type="dt" sz="half" idx="10"/>
          </p:nvPr>
        </p:nvSpPr>
        <p:spPr/>
        <p:txBody>
          <a:bodyPr/>
          <a:lstStyle/>
          <a:p>
            <a:pPr marL="0" lvl="0" indent="0">
              <a:buNone/>
            </a:pPr>
            <a:r>
              <a:rPr lang="de-DE" dirty="0"/>
              <a:t>March</a:t>
            </a:r>
            <a:r>
              <a:rPr dirty="0"/>
              <a:t> </a:t>
            </a:r>
            <a:r>
              <a:rPr lang="de-DE" dirty="0"/>
              <a:t>30</a:t>
            </a:r>
            <a:r>
              <a:rPr dirty="0"/>
              <a:t>,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Monthly Sales Analysis for Germany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rPr dirty="0"/>
              <a:t>Sales Performance Overview</a:t>
            </a:r>
          </a:p>
        </p:txBody>
      </p:sp>
      <p:sp>
        <p:nvSpPr>
          <p:cNvPr id="4" name="Text Placeholder 3"/>
          <p:cNvSpPr>
            <a:spLocks noGrp="1"/>
          </p:cNvSpPr>
          <p:nvPr>
            <p:ph type="body" sz="half" idx="2"/>
          </p:nvPr>
        </p:nvSpPr>
        <p:spPr/>
        <p:txBody>
          <a:bodyPr/>
          <a:lstStyle/>
          <a:p>
            <a:pPr lvl="0" indent="0">
              <a:buNone/>
            </a:pPr>
            <a:r>
              <a:rPr dirty="0"/>
              <a:t>
AI Analysis:
The total revenue of €3.72 billion and an average monthly revenue of approximately €310 million indicate a strong overall performance, with July standing out as the peak month at €444.38 million, suggesting seasonal demand or successful marketing initiatives during that period. This spike in July could imply opportunities for targeted promotions or inventory adjustments in anticipation of similar peaks in future years. To capitalize on this trend, it is recommended to analyze the factors contributing to July's success and consider implementing strategies to boost sales in historically lower-performing months.</a:t>
            </a:r>
          </a:p>
        </p:txBody>
      </p:sp>
      <p:pic>
        <p:nvPicPr>
          <p:cNvPr id="3" name="Picture 1" descr="germany_sales_ppt_test_files/figure-pptx/cell-4-output-2.png"/>
          <p:cNvPicPr>
            <a:picLocks noGrp="1" noChangeAspect="1"/>
          </p:cNvPicPr>
          <p:nvPr/>
        </p:nvPicPr>
        <p:blipFill>
          <a:blip r:embed="rId2"/>
          <a:stretch>
            <a:fillRect/>
          </a:stretch>
        </p:blipFill>
        <p:spPr bwMode="auto">
          <a:xfrm>
            <a:off x="3568700" y="876300"/>
            <a:ext cx="5105400" cy="3048000"/>
          </a:xfrm>
          <a:prstGeom prst="rect">
            <a:avLst/>
          </a:prstGeom>
          <a:noFill/>
          <a:ln w="9525">
            <a:noFill/>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Regional Analysis</a:t>
            </a:r>
          </a:p>
        </p:txBody>
      </p:sp>
      <p:graphicFrame>
        <p:nvGraphicFramePr>
          <p:cNvPr id="6" name="Content Placeholder 5"/>
          <p:cNvGraphicFramePr>
            <a:graphicFrameLocks noGrp="1"/>
          </p:cNvGraphicFramePr>
          <p:nvPr>
            <p:ph idx="1"/>
          </p:nvPr>
        </p:nvGraphicFramePr>
        <p:xfrm>
          <a:off x="457200" y="1193800"/>
          <a:ext cx="8229600" cy="17830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 </a:t>
                      </a:r>
                    </a:p>
                  </a:txBody>
                  <a:tcPr/>
                </a:tc>
                <a:tc>
                  <a:txBody>
                    <a:bodyPr/>
                    <a:lstStyle/>
                    <a:p>
                      <a:pPr marL="0" lvl="0" indent="0">
                        <a:buNone/>
                      </a:pPr>
                      <a:r>
                        <a:t>Sales Amount</a:t>
                      </a:r>
                    </a:p>
                  </a:txBody>
                  <a:tcPr/>
                </a:tc>
                <a:tc>
                  <a:txBody>
                    <a:bodyPr/>
                    <a:lstStyle/>
                    <a:p>
                      <a:pPr marL="0" lvl="0" indent="0">
                        <a:buNone/>
                      </a:pPr>
                      <a:r>
                        <a:t>Revenue EUR</a:t>
                      </a:r>
                    </a:p>
                  </a:txBody>
                  <a:tcPr/>
                </a:tc>
                <a:tc>
                  <a:txBody>
                    <a:bodyPr/>
                    <a:lstStyle/>
                    <a:p>
                      <a:pPr marL="0" lvl="0" indent="0">
                        <a:buNone/>
                      </a:pPr>
                      <a:r>
                        <a:t>Gross Profit EUR</a:t>
                      </a:r>
                    </a:p>
                  </a:txBody>
                  <a:tcPr/>
                </a:tc>
                <a:extLst>
                  <a:ext uri="{0D108BD9-81ED-4DB2-BD59-A6C34878D82A}">
                    <a16:rowId xmlns:a16="http://schemas.microsoft.com/office/drawing/2014/main" val="10000"/>
                  </a:ext>
                </a:extLst>
              </a:tr>
              <a:tr h="0">
                <a:tc>
                  <a:txBody>
                    <a:bodyPr/>
                    <a:lstStyle/>
                    <a:p>
                      <a:pPr marL="0" lvl="0" indent="0">
                        <a:buNone/>
                      </a:pPr>
                      <a:r>
                        <a:t>Sales Region</a:t>
                      </a:r>
                    </a:p>
                  </a:txBody>
                  <a:tcPr/>
                </a:tc>
                <a:tc>
                  <a:txBody>
                    <a:bodyPr/>
                    <a:lstStyle/>
                    <a:p>
                      <a:pPr marL="0" lvl="0" indent="0">
                        <a:buNone/>
                      </a:pPr>
                      <a:r>
                        <a:t> </a:t>
                      </a:r>
                    </a:p>
                  </a:txBody>
                  <a:tcPr/>
                </a:tc>
                <a:tc>
                  <a:txBody>
                    <a:bodyPr/>
                    <a:lstStyle/>
                    <a:p>
                      <a:pPr marL="0" lvl="0" indent="0">
                        <a:buNone/>
                      </a:pPr>
                      <a:r>
                        <a:t> </a:t>
                      </a:r>
                    </a:p>
                  </a:txBody>
                  <a:tcPr/>
                </a:tc>
                <a:tc>
                  <a:txBody>
                    <a:bodyPr/>
                    <a:lstStyle/>
                    <a:p>
                      <a:pPr marL="0" lvl="0" indent="0">
                        <a:buNone/>
                      </a:pPr>
                      <a:r>
                        <a:t> </a:t>
                      </a:r>
                    </a:p>
                  </a:txBody>
                  <a:tcPr/>
                </a:tc>
                <a:extLst>
                  <a:ext uri="{0D108BD9-81ED-4DB2-BD59-A6C34878D82A}">
                    <a16:rowId xmlns:a16="http://schemas.microsoft.com/office/drawing/2014/main" val="10001"/>
                  </a:ext>
                </a:extLst>
              </a:tr>
              <a:tr h="0">
                <a:tc>
                  <a:txBody>
                    <a:bodyPr/>
                    <a:lstStyle/>
                    <a:p>
                      <a:pPr marL="0" lvl="0" indent="0">
                        <a:buNone/>
                      </a:pPr>
                      <a:r>
                        <a:t>Germany East</a:t>
                      </a:r>
                    </a:p>
                  </a:txBody>
                  <a:tcPr/>
                </a:tc>
                <a:tc>
                  <a:txBody>
                    <a:bodyPr/>
                    <a:lstStyle/>
                    <a:p>
                      <a:pPr marL="0" lvl="0" indent="0">
                        <a:buNone/>
                      </a:pPr>
                      <a:r>
                        <a:t>428,951</a:t>
                      </a:r>
                    </a:p>
                  </a:txBody>
                  <a:tcPr/>
                </a:tc>
                <a:tc>
                  <a:txBody>
                    <a:bodyPr/>
                    <a:lstStyle/>
                    <a:p>
                      <a:pPr marL="0" lvl="0" indent="0">
                        <a:buNone/>
                      </a:pPr>
                      <a:r>
                        <a:t>€451,678,367</a:t>
                      </a:r>
                    </a:p>
                  </a:txBody>
                  <a:tcPr/>
                </a:tc>
                <a:tc>
                  <a:txBody>
                    <a:bodyPr/>
                    <a:lstStyle/>
                    <a:p>
                      <a:pPr marL="0" lvl="0" indent="0">
                        <a:buNone/>
                      </a:pPr>
                      <a:r>
                        <a:t>€126,386,276</a:t>
                      </a:r>
                    </a:p>
                  </a:txBody>
                  <a:tcPr/>
                </a:tc>
                <a:extLst>
                  <a:ext uri="{0D108BD9-81ED-4DB2-BD59-A6C34878D82A}">
                    <a16:rowId xmlns:a16="http://schemas.microsoft.com/office/drawing/2014/main" val="10002"/>
                  </a:ext>
                </a:extLst>
              </a:tr>
              <a:tr h="0">
                <a:tc>
                  <a:txBody>
                    <a:bodyPr/>
                    <a:lstStyle/>
                    <a:p>
                      <a:pPr marL="0" lvl="0" indent="0">
                        <a:buNone/>
                      </a:pPr>
                      <a:r>
                        <a:t>Germany North</a:t>
                      </a:r>
                    </a:p>
                  </a:txBody>
                  <a:tcPr/>
                </a:tc>
                <a:tc>
                  <a:txBody>
                    <a:bodyPr/>
                    <a:lstStyle/>
                    <a:p>
                      <a:pPr marL="0" lvl="0" indent="0">
                        <a:buNone/>
                      </a:pPr>
                      <a:r>
                        <a:t>667,888</a:t>
                      </a:r>
                    </a:p>
                  </a:txBody>
                  <a:tcPr/>
                </a:tc>
                <a:tc>
                  <a:txBody>
                    <a:bodyPr/>
                    <a:lstStyle/>
                    <a:p>
                      <a:pPr marL="0" lvl="0" indent="0">
                        <a:buNone/>
                      </a:pPr>
                      <a:r>
                        <a:t>€687,595,342</a:t>
                      </a:r>
                    </a:p>
                  </a:txBody>
                  <a:tcPr/>
                </a:tc>
                <a:tc>
                  <a:txBody>
                    <a:bodyPr/>
                    <a:lstStyle/>
                    <a:p>
                      <a:pPr marL="0" lvl="0" indent="0">
                        <a:buNone/>
                      </a:pPr>
                      <a:r>
                        <a:t>€219,455,830</a:t>
                      </a:r>
                    </a:p>
                  </a:txBody>
                  <a:tcPr/>
                </a:tc>
                <a:extLst>
                  <a:ext uri="{0D108BD9-81ED-4DB2-BD59-A6C34878D82A}">
                    <a16:rowId xmlns:a16="http://schemas.microsoft.com/office/drawing/2014/main" val="10003"/>
                  </a:ext>
                </a:extLst>
              </a:tr>
              <a:tr h="0">
                <a:tc>
                  <a:txBody>
                    <a:bodyPr/>
                    <a:lstStyle/>
                    <a:p>
                      <a:pPr marL="0" lvl="0" indent="0">
                        <a:buNone/>
                      </a:pPr>
                      <a:r>
                        <a:t>Germany South</a:t>
                      </a:r>
                    </a:p>
                  </a:txBody>
                  <a:tcPr/>
                </a:tc>
                <a:tc>
                  <a:txBody>
                    <a:bodyPr/>
                    <a:lstStyle/>
                    <a:p>
                      <a:pPr marL="0" lvl="0" indent="0">
                        <a:buNone/>
                      </a:pPr>
                      <a:r>
                        <a:t>1,400,820</a:t>
                      </a:r>
                    </a:p>
                  </a:txBody>
                  <a:tcPr/>
                </a:tc>
                <a:tc>
                  <a:txBody>
                    <a:bodyPr/>
                    <a:lstStyle/>
                    <a:p>
                      <a:pPr marL="0" lvl="0" indent="0">
                        <a:buNone/>
                      </a:pPr>
                      <a:r>
                        <a:t>€1,562,815,376</a:t>
                      </a:r>
                    </a:p>
                  </a:txBody>
                  <a:tcPr/>
                </a:tc>
                <a:tc>
                  <a:txBody>
                    <a:bodyPr/>
                    <a:lstStyle/>
                    <a:p>
                      <a:pPr marL="0" lvl="0" indent="0">
                        <a:buNone/>
                      </a:pPr>
                      <a:r>
                        <a:t>€496,617,703</a:t>
                      </a:r>
                    </a:p>
                  </a:txBody>
                  <a:tcPr/>
                </a:tc>
                <a:extLst>
                  <a:ext uri="{0D108BD9-81ED-4DB2-BD59-A6C34878D82A}">
                    <a16:rowId xmlns:a16="http://schemas.microsoft.com/office/drawing/2014/main" val="10004"/>
                  </a:ext>
                </a:extLst>
              </a:tr>
              <a:tr h="0">
                <a:tc>
                  <a:txBody>
                    <a:bodyPr/>
                    <a:lstStyle/>
                    <a:p>
                      <a:pPr marL="0" lvl="0" indent="0">
                        <a:buNone/>
                      </a:pPr>
                      <a:r>
                        <a:t>Germany West</a:t>
                      </a:r>
                    </a:p>
                  </a:txBody>
                  <a:tcPr/>
                </a:tc>
                <a:tc>
                  <a:txBody>
                    <a:bodyPr/>
                    <a:lstStyle/>
                    <a:p>
                      <a:pPr marL="0" lvl="0" indent="0">
                        <a:buNone/>
                      </a:pPr>
                      <a:r>
                        <a:t>991,293</a:t>
                      </a:r>
                    </a:p>
                  </a:txBody>
                  <a:tcPr/>
                </a:tc>
                <a:tc>
                  <a:txBody>
                    <a:bodyPr/>
                    <a:lstStyle/>
                    <a:p>
                      <a:pPr marL="0" lvl="0" indent="0">
                        <a:buNone/>
                      </a:pPr>
                      <a:r>
                        <a:t>€1,016,938,345</a:t>
                      </a:r>
                    </a:p>
                  </a:txBody>
                  <a:tcPr/>
                </a:tc>
                <a:tc>
                  <a:txBody>
                    <a:bodyPr/>
                    <a:lstStyle/>
                    <a:p>
                      <a:pPr marL="0" lvl="0" indent="0">
                        <a:buNone/>
                      </a:pPr>
                      <a:r>
                        <a:t>€325,293,188</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lvl="0" indent="0">
              <a:buNone/>
            </a:pPr>
            <a:r>
              <a:rPr dirty="0"/>
              <a:t>
AI Analysis:
The sales performance data reveals that Germany South is the top-performing region, generating €1,562,815,376 in revenue and €496,617,703.16 in profit, significantly outpacing other regions. In contrast, Germany East lags behind with the lowest revenue of €451,678,367 and a profit of €126,386,275.95. This disparity suggests that targeted strategies to enhance sales and profitability in underperforming regions, particularly Germany East, could yield substantial returns. Recommendations include investing in localized marketing efforts, optimizing product offerings to meet regional demands, and exploring partnerships to boost market penetration in these areas.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Product Category Performance</a:t>
            </a:r>
          </a:p>
        </p:txBody>
      </p:sp>
      <p:sp>
        <p:nvSpPr>
          <p:cNvPr id="4" name="Text Placeholder 3"/>
          <p:cNvSpPr>
            <a:spLocks noGrp="1"/>
          </p:cNvSpPr>
          <p:nvPr>
            <p:ph type="body" sz="half" idx="2"/>
          </p:nvPr>
        </p:nvSpPr>
        <p:spPr/>
        <p:txBody>
          <a:bodyPr/>
          <a:lstStyle/>
          <a:p>
            <a:pPr lvl="0" indent="0">
              <a:buNone/>
            </a:pPr>
            <a:r>
              <a:rPr dirty="0"/>
              <a:t>
AI Analysis:
The sales performance data reveals that City Bikes dominate the market in Germany with a revenue of approximately €1.26 billion, significantly outpacing other categories such as Race Bikes (€1.1 billion) and Mountain Bikes (€760 million). Notably, while City Bikes have a solid profit margin of 31.14%, Mountain Bikes lead with the highest margin at 33.19%. This suggests a potential opportunity to enhance profitability by focusing on the Mountain Bikes segment, possibly through targeted marketing or product enhancements. Additionally, considering the strong performance of City Bikes, the company could explore expanding its product line or introducing premium models to capture a larger market share.</a:t>
            </a:r>
          </a:p>
        </p:txBody>
      </p:sp>
      <p:pic>
        <p:nvPicPr>
          <p:cNvPr id="3" name="Picture 1" descr="germany_sales_ppt_test_files/figure-pptx/cell-6-output-2.png"/>
          <p:cNvPicPr>
            <a:picLocks noGrp="1" noChangeAspect="1"/>
          </p:cNvPicPr>
          <p:nvPr/>
        </p:nvPicPr>
        <p:blipFill>
          <a:blip r:embed="rId2"/>
          <a:stretch>
            <a:fillRect/>
          </a:stretch>
        </p:blipFill>
        <p:spPr bwMode="auto">
          <a:xfrm>
            <a:off x="3568700" y="939800"/>
            <a:ext cx="5105400" cy="28956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402</Words>
  <Application>Microsoft Macintosh PowerPoint</Application>
  <PresentationFormat>Bildschirmpräsentation (16:9)</PresentationFormat>
  <Paragraphs>35</Paragraphs>
  <Slides>6</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6</vt:i4>
      </vt:variant>
    </vt:vector>
  </HeadingPairs>
  <TitlesOfParts>
    <vt:vector size="11" baseType="lpstr">
      <vt:lpstr>Aptos</vt:lpstr>
      <vt:lpstr>Arial</vt:lpstr>
      <vt:lpstr>Avenir Next</vt:lpstr>
      <vt:lpstr>Calibri</vt:lpstr>
      <vt:lpstr>Office Theme</vt:lpstr>
      <vt:lpstr>Germany: Sales Analysis</vt:lpstr>
      <vt:lpstr>Monthly Sales Analysis for Germany</vt:lpstr>
      <vt:lpstr>Sales Performance Overview</vt:lpstr>
      <vt:lpstr>Regional Analysis</vt:lpstr>
      <vt:lpstr>PowerPoint-Präsentation</vt:lpstr>
      <vt:lpstr>Product Category Performance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46</Words>
  <Application>Microsoft Macintosh PowerPoint</Application>
  <PresentationFormat>Bildschirmpräsentation (16:9)</PresentationFormat>
  <Paragraphs>14</Paragraphs>
  <Slides>4</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Arial</vt:lpstr>
      <vt:lpstr>Avenir Next</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German Sales Analysis</dc:title>
  <dc:creator>Mike Farmer</dc:creator>
  <cp:keywords/>
  <cp:lastModifiedBy>Jan Kirenz</cp:lastModifiedBy>
  <cp:revision>3</cp:revision>
  <dcterms:created xsi:type="dcterms:W3CDTF">2025-02-15T13:38:24Z</dcterms:created>
  <dcterms:modified xsi:type="dcterms:W3CDTF">2025-03-28T20:17:41Z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February 15, 2025</vt:lpwstr>
  </property>
  <property fmtid="{D5CDD505-2E9C-101B-9397-08002B2CF9AE}" pid="6" name="date-format">
    <vt:lpwstr>long</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